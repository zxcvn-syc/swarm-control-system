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media/image-5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已通过或已采集</c:v>
                </c:pt>
              </c:strCache>
            </c:strRef>
          </c:tx>
          <c:spPr>
            <a:solidFill>
              <a:srgbClr val="0D9488"/>
            </a:solidFill>
          </c:spPr>
          <c:cat>
            <c:strRef>
              <c:f>Sheet1!$A$2:$A$5</c:f>
              <c:strCache>
                <c:ptCount val="4"/>
                <c:pt idx="0">
                  <c:v>Tracker/Fusion</c:v>
                </c:pt>
                <c:pt idx="1">
                  <c:v>Planning</c:v>
                </c:pt>
                <c:pt idx="2">
                  <c:v>SITL smoke</c:v>
                </c:pt>
                <c:pt idx="3">
                  <c:v>2h soak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</c:v>
                </c:pt>
                <c:pt idx="1">
                  <c:v>23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5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本次汇报围绕异构无人集群协同封控展开。重点不是单点识别，而是验证从视频目标感知到多无人机封控指令的端到端闭环。后续页面会依次展示系统链路、何泓林负责的跟踪升级、实测数据和 ROS2 决策结果。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这里先明确项目的闭环价值。系统把视觉识别得到的目标状态，连续传递给调度、规划和封控模块。每个模块都有明确输入输出，因此我们既能展示识别效果，也能回答识别结果如何真正驱动多机协同响应。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这页是系统通信骨架。tracker_node 先把确认的目标轨迹发布到 target_track，后续三个节点分别产生任务、路径和封控指令。我们不只检查节点是否启动，而是逐段采样 topic 和日志，验证链路确实传到了最后一环。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何泓林负责的部分集中在跟踪质量和工程可运行性。关联采用门控、外观级联和 IoU 兜底，OSNet gallery 用于降低遮挡交叉带来的 ID 漂移。除此之外，Kalman 预测把当前跟踪状态延伸为未来轨迹；视频编码改为优先 mp4v，保证 ROS 虚拟机可以稳定导出最终演示。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这里展示最终标注视频的原始中间帧。左侧画面保留了检测框、确认 ID、历史轨迹、未来预测线以及统计条。右侧说明这一页的模型组合。需要强调的是，视频不只生成了视觉效果，还输出了可以被后续 ROS2 节点消费的轨迹数据。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这页强调运行质量和可复现性。整个样例处理了 200 帧，输出时长 6.674 秒的 MP4，并保存 3395 条轨迹记录及未来轨迹数据。最终视频已通过解码验证，配合各节点日志，可以从视觉、数据和系统三个角度复核本次结果。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这页是端到端验证的核心证据。确认目标进入系统后，调度节点产生 16 个活跃任务，样例可以看到 drone 0 分配到 target 459。规划节点为 8 架无人机输出路径，最后封控节点生成 8 条 Voronoi 指令，半径为 25。至此，视频目标已经转换为多机协同行动。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最后总结一下。本次已经完成视频识别、跟踪、调度、路径和封控的 ROS2 闭环验证，并留下可播放视频、CSV 和日志证据。当前需要正视的限制是目标坐标仍以像素坐标为主。下一阶段先完成相机标定和坐标变换，再接入 RflySim 或 PX4，把系统推进到真实飞控闭环。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3A75"/>
          </a:solidFill>
          <a:ln w="12700">
            <a:solidFill>
              <a:srgbClr val="0B3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1078992"/>
            <a:ext cx="6537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异构无人集群协同封控系统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847088"/>
            <a:ext cx="6172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831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目标感知、任务分配、路径规划与封控决策的端到端实测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423160"/>
            <a:ext cx="6446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ROS2 Humble  |  YOLOv8 VisDrone  |  DeepSortCascade  |  OSNet ReID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" y="2990088"/>
            <a:ext cx="5715000" cy="1005840"/>
          </a:xfrm>
          <a:prstGeom prst="roundRect">
            <a:avLst>
              <a:gd name="adj" fmla="val 7273"/>
            </a:avLst>
          </a:prstGeom>
          <a:solidFill>
            <a:srgbClr val="EAF2FF"/>
          </a:solidFill>
          <a:ln w="12700">
            <a:solidFill>
              <a:srgbClr val="B7CA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218688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将视频目标识别转化为可执行的多无人机协同封控指令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059168" y="1417320"/>
            <a:ext cx="658368" cy="658368"/>
          </a:xfrm>
          <a:prstGeom prst="ellipse">
            <a:avLst/>
          </a:prstGeom>
          <a:solidFill>
            <a:srgbClr val="1769C2"/>
          </a:solidFill>
          <a:ln w="12700">
            <a:solidFill>
              <a:srgbClr val="1769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67728" y="2167128"/>
            <a:ext cx="841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31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90688" y="1600200"/>
            <a:ext cx="338328" cy="256032"/>
          </a:xfrm>
          <a:prstGeom prst="chevron">
            <a:avLst/>
          </a:prstGeom>
          <a:solidFill>
            <a:srgbClr val="1769C2"/>
          </a:solidFill>
          <a:ln w="7620">
            <a:solidFill>
              <a:srgbClr val="1769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11312" y="2350008"/>
            <a:ext cx="658368" cy="65836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19872" y="3099816"/>
            <a:ext cx="841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31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42832" y="2020824"/>
            <a:ext cx="338328" cy="256032"/>
          </a:xfrm>
          <a:prstGeom prst="chevron">
            <a:avLst/>
          </a:prstGeom>
          <a:solidFill>
            <a:srgbClr val="1769C2"/>
          </a:solidFill>
          <a:ln w="7620">
            <a:solidFill>
              <a:srgbClr val="1769C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63456" y="1417320"/>
            <a:ext cx="658368" cy="658368"/>
          </a:xfrm>
          <a:prstGeom prst="ellipse">
            <a:avLst/>
          </a:prstGeom>
          <a:solidFill>
            <a:srgbClr val="E18B17"/>
          </a:solidFill>
          <a:ln w="12700">
            <a:solidFill>
              <a:srgbClr val="E18B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72016" y="2167128"/>
            <a:ext cx="841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31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094976" y="1600200"/>
            <a:ext cx="338328" cy="256032"/>
          </a:xfrm>
          <a:prstGeom prst="chevron">
            <a:avLst/>
          </a:prstGeom>
          <a:solidFill>
            <a:srgbClr val="1769C2"/>
          </a:solidFill>
          <a:ln w="7620">
            <a:solidFill>
              <a:srgbClr val="1769C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0" y="2350008"/>
            <a:ext cx="658368" cy="658368"/>
          </a:xfrm>
          <a:prstGeom prst="ellipse">
            <a:avLst/>
          </a:prstGeom>
          <a:solidFill>
            <a:srgbClr val="B5121B"/>
          </a:solidFill>
          <a:ln w="12700">
            <a:solidFill>
              <a:srgbClr val="B5121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0" y="3099816"/>
            <a:ext cx="841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31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封控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06640" y="2395728"/>
            <a:ext cx="3474720" cy="941832"/>
          </a:xfrm>
          <a:prstGeom prst="line">
            <a:avLst/>
          </a:prstGeom>
          <a:noFill/>
          <a:ln w="15240">
            <a:solidFill>
              <a:srgbClr val="B7CA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40880" y="3931920"/>
            <a:ext cx="4343400" cy="1417320"/>
          </a:xfrm>
          <a:prstGeom prst="roundRect">
            <a:avLst>
              <a:gd name="adj" fmla="val 5161"/>
            </a:avLst>
          </a:prstGeom>
          <a:solidFill>
            <a:srgbClr val="F5F8FD"/>
          </a:solidFill>
          <a:ln w="12700">
            <a:solidFill>
              <a:srgbClr val="B7CA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33488" y="41605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12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实测闭环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333488" y="4544568"/>
            <a:ext cx="3721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831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视频输入 -&gt; 确认目标 -&gt; 任务分配 -&gt; 路径输出 -&gt; Voronoi 包围指令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587959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何泓林模块：多目标跟踪、ReID 关联、未来轨迹与视频导出兼容性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" y="6492240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1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2026-08-17  ROS2 Humble 虚拟机实测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20040"/>
            <a:ext cx="475488" cy="347472"/>
          </a:xfrm>
          <a:prstGeom prst="roundRect">
            <a:avLst>
              <a:gd name="adj" fmla="val 21053"/>
            </a:avLst>
          </a:prstGeom>
          <a:solidFill>
            <a:srgbClr val="0B3A75"/>
          </a:solidFill>
          <a:ln w="12700">
            <a:solidFill>
              <a:srgbClr val="0B3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20040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78992" y="274320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3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项目目标与闭环价值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97280" y="722376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1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从“发现目标”到“协同响应”的可执行链路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11274552" cy="0"/>
          </a:xfrm>
          <a:prstGeom prst="line">
            <a:avLst/>
          </a:prstGeom>
          <a:noFill/>
          <a:ln w="13970">
            <a:solidFill>
              <a:srgbClr val="B7CA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508760"/>
            <a:ext cx="2423160" cy="2212848"/>
          </a:xfrm>
          <a:prstGeom prst="roundRect">
            <a:avLst>
              <a:gd name="adj" fmla="val 3306"/>
            </a:avLst>
          </a:prstGeom>
          <a:solidFill>
            <a:srgbClr val="F5F8FD"/>
          </a:solidFill>
          <a:ln w="12700">
            <a:solidFill>
              <a:srgbClr val="B7CA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72184" y="1783080"/>
            <a:ext cx="658368" cy="658368"/>
          </a:xfrm>
          <a:prstGeom prst="ellipse">
            <a:avLst/>
          </a:prstGeom>
          <a:solidFill>
            <a:srgbClr val="1769C2"/>
          </a:solidFill>
          <a:ln w="12700">
            <a:solidFill>
              <a:srgbClr val="1769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72184" y="1792224"/>
            <a:ext cx="658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7240" y="259689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视频目标感知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299923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1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检测、确认 ID、历史轨迹与未来预测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108960" y="2377440"/>
            <a:ext cx="320040" cy="310896"/>
          </a:xfrm>
          <a:prstGeom prst="chevron">
            <a:avLst/>
          </a:prstGeom>
          <a:solidFill>
            <a:srgbClr val="1769C2"/>
          </a:solidFill>
          <a:ln w="7620">
            <a:solidFill>
              <a:srgbClr val="1769C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83864" y="1508760"/>
            <a:ext cx="2423160" cy="2212848"/>
          </a:xfrm>
          <a:prstGeom prst="roundRect">
            <a:avLst>
              <a:gd name="adj" fmla="val 3306"/>
            </a:avLst>
          </a:prstGeom>
          <a:solidFill>
            <a:srgbClr val="F5F8FD"/>
          </a:solidFill>
          <a:ln w="12700">
            <a:solidFill>
              <a:srgbClr val="B7CA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61688" y="1783080"/>
            <a:ext cx="658368" cy="65836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61688" y="1792224"/>
            <a:ext cx="658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666744" y="259689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协同任务分配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712464" y="299923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1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将目标状态转化为无人机跟踪任务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98464" y="2377440"/>
            <a:ext cx="320040" cy="310896"/>
          </a:xfrm>
          <a:prstGeom prst="chevron">
            <a:avLst/>
          </a:prstGeom>
          <a:solidFill>
            <a:srgbClr val="1769C2"/>
          </a:solidFill>
          <a:ln w="7620">
            <a:solidFill>
              <a:srgbClr val="1769C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73368" y="1508760"/>
            <a:ext cx="2423160" cy="2212848"/>
          </a:xfrm>
          <a:prstGeom prst="roundRect">
            <a:avLst>
              <a:gd name="adj" fmla="val 3306"/>
            </a:avLst>
          </a:prstGeom>
          <a:solidFill>
            <a:srgbClr val="F5F8FD"/>
          </a:solidFill>
          <a:ln w="12700">
            <a:solidFill>
              <a:srgbClr val="B7CA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51192" y="1783080"/>
            <a:ext cx="658368" cy="658368"/>
          </a:xfrm>
          <a:prstGeom prst="ellipse">
            <a:avLst/>
          </a:prstGeom>
          <a:solidFill>
            <a:srgbClr val="E18B17"/>
          </a:solidFill>
          <a:ln w="12700">
            <a:solidFill>
              <a:srgbClr val="E18B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51192" y="1792224"/>
            <a:ext cx="658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556248" y="259689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路径规划控制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01968" y="299923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1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 world-frame 路径与状态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887968" y="2377440"/>
            <a:ext cx="320040" cy="310896"/>
          </a:xfrm>
          <a:prstGeom prst="chevron">
            <a:avLst/>
          </a:prstGeom>
          <a:solidFill>
            <a:srgbClr val="1769C2"/>
          </a:solidFill>
          <a:ln w="7620">
            <a:solidFill>
              <a:srgbClr val="1769C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62872" y="1508760"/>
            <a:ext cx="2423160" cy="2212848"/>
          </a:xfrm>
          <a:prstGeom prst="roundRect">
            <a:avLst>
              <a:gd name="adj" fmla="val 3306"/>
            </a:avLst>
          </a:prstGeom>
          <a:solidFill>
            <a:srgbClr val="F5F8FD"/>
          </a:solidFill>
          <a:ln w="12700">
            <a:solidFill>
              <a:srgbClr val="B7CA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140696" y="1783080"/>
            <a:ext cx="658368" cy="658368"/>
          </a:xfrm>
          <a:prstGeom prst="ellipse">
            <a:avLst/>
          </a:prstGeom>
          <a:solidFill>
            <a:srgbClr val="B5121B"/>
          </a:solidFill>
          <a:ln w="12700">
            <a:solidFill>
              <a:srgbClr val="B5121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140696" y="1792224"/>
            <a:ext cx="658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445752" y="259689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封控决策执行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491472" y="299923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1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生成多机 Voronoi 包围指令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94360" y="4187952"/>
            <a:ext cx="11018520" cy="128016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12700">
            <a:solidFill>
              <a:srgbClr val="B7CA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6112" y="446227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12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2148840" y="4416552"/>
            <a:ext cx="8823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统一通信与统一调度，将视觉层输出连续映射为可追溯的任务、路径和封控动作。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2148840" y="4855464"/>
            <a:ext cx="8869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31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每一环均可由 ROS2 topic、日志或 CSV 结果验证，便于后续接入仿真平台和真实飞控。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02920" y="6492240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1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系统目标：可感知、可调度、可规划、可封控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20040"/>
            <a:ext cx="475488" cy="347472"/>
          </a:xfrm>
          <a:prstGeom prst="roundRect">
            <a:avLst>
              <a:gd name="adj" fmla="val 21053"/>
            </a:avLst>
          </a:prstGeom>
          <a:solidFill>
            <a:srgbClr val="0B3A75"/>
          </a:solidFill>
          <a:ln w="12700">
            <a:solidFill>
              <a:srgbClr val="0B3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20040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78992" y="274320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3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系统架构与 ROS2 话题链路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97280" y="722376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1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四个节点通过标准 topic 完成从视频到包围指令的传递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11274552" cy="0"/>
          </a:xfrm>
          <a:prstGeom prst="line">
            <a:avLst/>
          </a:prstGeom>
          <a:noFill/>
          <a:ln w="13970">
            <a:solidFill>
              <a:srgbClr val="B7CA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1627632"/>
            <a:ext cx="1965960" cy="1993392"/>
          </a:xfrm>
          <a:prstGeom prst="roundRect">
            <a:avLst>
              <a:gd name="adj" fmla="val 3721"/>
            </a:avLst>
          </a:prstGeom>
          <a:solidFill>
            <a:srgbClr val="F5F8FD"/>
          </a:solidFill>
          <a:ln w="12700">
            <a:solidFill>
              <a:srgbClr val="1769C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1627632"/>
            <a:ext cx="1965960" cy="347472"/>
          </a:xfrm>
          <a:prstGeom prst="roundRect">
            <a:avLst>
              <a:gd name="adj" fmla="val 21053"/>
            </a:avLst>
          </a:prstGeom>
          <a:solidFill>
            <a:srgbClr val="1769C2"/>
          </a:solidFill>
          <a:ln w="12700">
            <a:solidFill>
              <a:srgbClr val="1769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82496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视频输入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03504" y="215798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无人机道路场景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3504" y="2788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68880" y="2423160"/>
            <a:ext cx="256032" cy="274320"/>
          </a:xfrm>
          <a:prstGeom prst="chevron">
            <a:avLst/>
          </a:prstGeom>
          <a:solidFill>
            <a:srgbClr val="1769C2"/>
          </a:solidFill>
          <a:ln w="7620">
            <a:solidFill>
              <a:srgbClr val="1769C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88920" y="1627632"/>
            <a:ext cx="1965960" cy="1993392"/>
          </a:xfrm>
          <a:prstGeom prst="roundRect">
            <a:avLst>
              <a:gd name="adj" fmla="val 3721"/>
            </a:avLst>
          </a:prstGeom>
          <a:solidFill>
            <a:srgbClr val="F5F8FD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88920" y="1627632"/>
            <a:ext cx="1965960" cy="347472"/>
          </a:xfrm>
          <a:prstGeom prst="roundRect">
            <a:avLst>
              <a:gd name="adj" fmla="val 21053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98648" y="1682496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tracker_node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953512" y="215798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/target_track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53512" y="2788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1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确认目标、ID、轨迹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18888" y="2423160"/>
            <a:ext cx="256032" cy="274320"/>
          </a:xfrm>
          <a:prstGeom prst="chevron">
            <a:avLst/>
          </a:prstGeom>
          <a:solidFill>
            <a:srgbClr val="1769C2"/>
          </a:solidFill>
          <a:ln w="7620">
            <a:solidFill>
              <a:srgbClr val="1769C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38928" y="1627632"/>
            <a:ext cx="1965960" cy="1993392"/>
          </a:xfrm>
          <a:prstGeom prst="roundRect">
            <a:avLst>
              <a:gd name="adj" fmla="val 3721"/>
            </a:avLst>
          </a:prstGeom>
          <a:solidFill>
            <a:srgbClr val="F5F8FD"/>
          </a:solidFill>
          <a:ln w="12700">
            <a:solidFill>
              <a:srgbClr val="E18B1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38928" y="1627632"/>
            <a:ext cx="1965960" cy="347472"/>
          </a:xfrm>
          <a:prstGeom prst="roundRect">
            <a:avLst>
              <a:gd name="adj" fmla="val 21053"/>
            </a:avLst>
          </a:prstGeom>
          <a:solidFill>
            <a:srgbClr val="E18B17"/>
          </a:solidFill>
          <a:ln w="12700">
            <a:solidFill>
              <a:srgbClr val="E18B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48656" y="1682496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scheduler_node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303520" y="215798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/task_assignment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03520" y="2788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1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任务分配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168896" y="2423160"/>
            <a:ext cx="256032" cy="274320"/>
          </a:xfrm>
          <a:prstGeom prst="chevron">
            <a:avLst/>
          </a:prstGeom>
          <a:solidFill>
            <a:srgbClr val="1769C2"/>
          </a:solidFill>
          <a:ln w="7620">
            <a:solidFill>
              <a:srgbClr val="1769C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88936" y="1627632"/>
            <a:ext cx="1965960" cy="1993392"/>
          </a:xfrm>
          <a:prstGeom prst="roundRect">
            <a:avLst>
              <a:gd name="adj" fmla="val 3721"/>
            </a:avLst>
          </a:prstGeom>
          <a:solidFill>
            <a:srgbClr val="F5F8FD"/>
          </a:solidFill>
          <a:ln w="12700">
            <a:solidFill>
              <a:srgbClr val="1769C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88936" y="1627632"/>
            <a:ext cx="1965960" cy="347472"/>
          </a:xfrm>
          <a:prstGeom prst="roundRect">
            <a:avLst>
              <a:gd name="adj" fmla="val 21053"/>
            </a:avLst>
          </a:prstGeom>
          <a:solidFill>
            <a:srgbClr val="1769C2"/>
          </a:solidFill>
          <a:ln w="12700">
            <a:solidFill>
              <a:srgbClr val="1769C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98664" y="1682496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planner_node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653528" y="215798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/planned_path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3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/drone_states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653528" y="2788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1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world-frame 路径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518904" y="2423160"/>
            <a:ext cx="256032" cy="274320"/>
          </a:xfrm>
          <a:prstGeom prst="chevron">
            <a:avLst/>
          </a:prstGeom>
          <a:solidFill>
            <a:srgbClr val="1769C2"/>
          </a:solidFill>
          <a:ln w="7620">
            <a:solidFill>
              <a:srgbClr val="1769C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838944" y="1627632"/>
            <a:ext cx="1965960" cy="1993392"/>
          </a:xfrm>
          <a:prstGeom prst="roundRect">
            <a:avLst>
              <a:gd name="adj" fmla="val 3721"/>
            </a:avLst>
          </a:prstGeom>
          <a:solidFill>
            <a:srgbClr val="F5F8FD"/>
          </a:solidFill>
          <a:ln w="12700">
            <a:solidFill>
              <a:srgbClr val="B5121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838944" y="1627632"/>
            <a:ext cx="1965960" cy="347472"/>
          </a:xfrm>
          <a:prstGeom prst="roundRect">
            <a:avLst>
              <a:gd name="adj" fmla="val 21053"/>
            </a:avLst>
          </a:prstGeom>
          <a:solidFill>
            <a:srgbClr val="B5121B"/>
          </a:solidFill>
          <a:ln w="12700">
            <a:solidFill>
              <a:srgbClr val="B5121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948672" y="1682496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enclosure_node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0003536" y="215798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/enclosure_command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003536" y="2788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1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Voronoi 封控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94360" y="4187952"/>
            <a:ext cx="11018520" cy="1261872"/>
          </a:xfrm>
          <a:prstGeom prst="roundRect">
            <a:avLst>
              <a:gd name="adj" fmla="val 5797"/>
            </a:avLst>
          </a:prstGeom>
          <a:solidFill>
            <a:srgbClr val="EAF2FF"/>
          </a:solidFill>
          <a:ln w="12700">
            <a:solidFill>
              <a:srgbClr val="B7CA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6112" y="4471416"/>
            <a:ext cx="1152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512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验证口径</a:t>
            </a:r>
            <a:endParaRPr lang="en-US" sz="1550" dirty="0"/>
          </a:p>
        </p:txBody>
      </p:sp>
      <p:sp>
        <p:nvSpPr>
          <p:cNvPr id="38" name="Shape 36"/>
          <p:cNvSpPr/>
          <p:nvPr/>
        </p:nvSpPr>
        <p:spPr>
          <a:xfrm>
            <a:off x="2121408" y="4379976"/>
            <a:ext cx="658368" cy="283464"/>
          </a:xfrm>
          <a:prstGeom prst="roundRect">
            <a:avLst>
              <a:gd name="adj" fmla="val 25806"/>
            </a:avLst>
          </a:prstGeom>
          <a:solidFill>
            <a:srgbClr val="1769C2"/>
          </a:solidFill>
          <a:ln w="12700">
            <a:solidFill>
              <a:srgbClr val="1769C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94560" y="4389120"/>
            <a:ext cx="512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121408" y="4791456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831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/target_track 持续发布确认轨迹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389120" y="4379976"/>
            <a:ext cx="658368" cy="283464"/>
          </a:xfrm>
          <a:prstGeom prst="roundRect">
            <a:avLst>
              <a:gd name="adj" fmla="val 25806"/>
            </a:avLst>
          </a:prstGeom>
          <a:solidFill>
            <a:srgbClr val="1769C2"/>
          </a:solidFill>
          <a:ln w="12700">
            <a:solidFill>
              <a:srgbClr val="1769C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62272" y="4389120"/>
            <a:ext cx="512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389120" y="4791456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831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/task_assignment 产生 active assignment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656832" y="4379976"/>
            <a:ext cx="658368" cy="283464"/>
          </a:xfrm>
          <a:prstGeom prst="roundRect">
            <a:avLst>
              <a:gd name="adj" fmla="val 25806"/>
            </a:avLst>
          </a:prstGeom>
          <a:solidFill>
            <a:srgbClr val="1769C2"/>
          </a:solidFill>
          <a:ln w="12700">
            <a:solidFill>
              <a:srgbClr val="1769C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29984" y="4389120"/>
            <a:ext cx="512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656832" y="4791456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831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/planned_path 覆盖 8 架无人机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924544" y="4379976"/>
            <a:ext cx="658368" cy="283464"/>
          </a:xfrm>
          <a:prstGeom prst="roundRect">
            <a:avLst>
              <a:gd name="adj" fmla="val 25806"/>
            </a:avLst>
          </a:prstGeom>
          <a:solidFill>
            <a:srgbClr val="B5121B"/>
          </a:solidFill>
          <a:ln w="12700">
            <a:solidFill>
              <a:srgbClr val="B5121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997696" y="4389120"/>
            <a:ext cx="512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封控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8924544" y="4791456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831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/enclosure_command 输出 8 条指令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02920" y="6492240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1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Topic 链路是端到端演示的可验证骨架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20040"/>
            <a:ext cx="475488" cy="347472"/>
          </a:xfrm>
          <a:prstGeom prst="roundRect">
            <a:avLst>
              <a:gd name="adj" fmla="val 21053"/>
            </a:avLst>
          </a:prstGeom>
          <a:solidFill>
            <a:srgbClr val="0B3A75"/>
          </a:solidFill>
          <a:ln w="12700">
            <a:solidFill>
              <a:srgbClr val="0B3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20040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78992" y="274320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3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何泓林模块的跟踪能力升级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97280" y="722376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1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多目标关联、ReID gallery 与未来轨迹输出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11274552" cy="0"/>
          </a:xfrm>
          <a:prstGeom prst="line">
            <a:avLst/>
          </a:prstGeom>
          <a:noFill/>
          <a:ln w="13970">
            <a:solidFill>
              <a:srgbClr val="B7CA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" y="1481328"/>
            <a:ext cx="2487168" cy="1901952"/>
          </a:xfrm>
          <a:prstGeom prst="roundRect">
            <a:avLst>
              <a:gd name="adj" fmla="val 3846"/>
            </a:avLst>
          </a:prstGeom>
          <a:solidFill>
            <a:srgbClr val="F5F8FD"/>
          </a:solidFill>
          <a:ln w="12700">
            <a:solidFill>
              <a:srgbClr val="B7CA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5216" y="1481328"/>
            <a:ext cx="2487168" cy="320040"/>
          </a:xfrm>
          <a:prstGeom prst="roundRect">
            <a:avLst>
              <a:gd name="adj" fmla="val 22857"/>
            </a:avLst>
          </a:prstGeom>
          <a:solidFill>
            <a:srgbClr val="1769C2"/>
          </a:solidFill>
          <a:ln w="12700">
            <a:solidFill>
              <a:srgbClr val="1769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" y="1536192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DeepSortCascade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2057400"/>
            <a:ext cx="19019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831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Mahalanobis 门控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831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外观级联匹配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831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IoU 兜底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136392" y="2313432"/>
            <a:ext cx="228600" cy="265176"/>
          </a:xfrm>
          <a:prstGeom prst="chevron">
            <a:avLst/>
          </a:prstGeom>
          <a:solidFill>
            <a:srgbClr val="1769C2"/>
          </a:solidFill>
          <a:ln w="7620">
            <a:solidFill>
              <a:srgbClr val="1769C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19856" y="1481328"/>
            <a:ext cx="2487168" cy="1901952"/>
          </a:xfrm>
          <a:prstGeom prst="roundRect">
            <a:avLst>
              <a:gd name="adj" fmla="val 3846"/>
            </a:avLst>
          </a:prstGeom>
          <a:solidFill>
            <a:srgbClr val="F5F8FD"/>
          </a:solidFill>
          <a:ln w="12700">
            <a:solidFill>
              <a:srgbClr val="B7CA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19856" y="1481328"/>
            <a:ext cx="2487168" cy="320040"/>
          </a:xfrm>
          <a:prstGeom prst="roundRect">
            <a:avLst>
              <a:gd name="adj" fmla="val 2285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57016" y="1536192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OSNet ReID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703320" y="2057400"/>
            <a:ext cx="19019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831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512 维 gallery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831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降低遮挡与交叉时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831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 ID 漂移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71032" y="2313432"/>
            <a:ext cx="228600" cy="265176"/>
          </a:xfrm>
          <a:prstGeom prst="chevron">
            <a:avLst/>
          </a:prstGeom>
          <a:solidFill>
            <a:srgbClr val="1769C2"/>
          </a:solidFill>
          <a:ln w="7620">
            <a:solidFill>
              <a:srgbClr val="1769C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54496" y="1481328"/>
            <a:ext cx="2487168" cy="1901952"/>
          </a:xfrm>
          <a:prstGeom prst="roundRect">
            <a:avLst>
              <a:gd name="adj" fmla="val 3846"/>
            </a:avLst>
          </a:prstGeom>
          <a:solidFill>
            <a:srgbClr val="F5F8FD"/>
          </a:solidFill>
          <a:ln w="12700">
            <a:solidFill>
              <a:srgbClr val="B7CA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54496" y="1481328"/>
            <a:ext cx="2487168" cy="320040"/>
          </a:xfrm>
          <a:prstGeom prst="roundRect">
            <a:avLst>
              <a:gd name="adj" fmla="val 22857"/>
            </a:avLst>
          </a:prstGeom>
          <a:solidFill>
            <a:srgbClr val="E18B17"/>
          </a:solidFill>
          <a:ln w="12700">
            <a:solidFill>
              <a:srgbClr val="E18B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91656" y="1536192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Kalman 预测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537960" y="2057400"/>
            <a:ext cx="19019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831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未来轨迹投影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831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同时输出不确定度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831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支持后续决策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180576" y="1481328"/>
            <a:ext cx="2414016" cy="1901952"/>
          </a:xfrm>
          <a:prstGeom prst="roundRect">
            <a:avLst>
              <a:gd name="adj" fmla="val 3846"/>
            </a:avLst>
          </a:prstGeom>
          <a:solidFill>
            <a:srgbClr val="EAF2FF"/>
          </a:solidFill>
          <a:ln w="12700">
            <a:solidFill>
              <a:srgbClr val="B7CA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36608" y="1773936"/>
            <a:ext cx="1892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512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工程兼容性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464040" y="221284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831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视频导出优先使用 mp4v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831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适配虚拟机缺少 H.264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831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编码器的运行环境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4360" y="3968496"/>
            <a:ext cx="11000232" cy="1481328"/>
          </a:xfrm>
          <a:prstGeom prst="roundRect">
            <a:avLst>
              <a:gd name="adj" fmla="val 4938"/>
            </a:avLst>
          </a:prstGeom>
          <a:solidFill>
            <a:srgbClr val="EAF2FF"/>
          </a:solidFill>
          <a:ln w="12700">
            <a:solidFill>
              <a:srgbClr val="B7CA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6112" y="4242816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关联到决策的输出形态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2944368" y="4315968"/>
            <a:ext cx="438912" cy="438912"/>
          </a:xfrm>
          <a:prstGeom prst="ellipse">
            <a:avLst/>
          </a:prstGeom>
          <a:solidFill>
            <a:srgbClr val="1769C2"/>
          </a:solidFill>
          <a:ln w="12700">
            <a:solidFill>
              <a:srgbClr val="1769C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44368" y="4325112"/>
            <a:ext cx="4389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624328" y="4846320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31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检测框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560320" y="5093208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1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目标位置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39312" y="4398264"/>
            <a:ext cx="310896" cy="219456"/>
          </a:xfrm>
          <a:prstGeom prst="chevron">
            <a:avLst/>
          </a:prstGeom>
          <a:solidFill>
            <a:srgbClr val="1769C2"/>
          </a:solidFill>
          <a:ln w="7620">
            <a:solidFill>
              <a:srgbClr val="1769C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28616" y="4315968"/>
            <a:ext cx="438912" cy="438912"/>
          </a:xfrm>
          <a:prstGeom prst="ellipse">
            <a:avLst/>
          </a:prstGeom>
          <a:solidFill>
            <a:srgbClr val="1769C2"/>
          </a:solidFill>
          <a:ln w="12700">
            <a:solidFill>
              <a:srgbClr val="1769C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28616" y="4325112"/>
            <a:ext cx="4389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608576" y="4846320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31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 ID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44568" y="5093208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1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轨迹一致性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623560" y="4398264"/>
            <a:ext cx="310896" cy="219456"/>
          </a:xfrm>
          <a:prstGeom prst="chevron">
            <a:avLst/>
          </a:prstGeom>
          <a:solidFill>
            <a:srgbClr val="1769C2"/>
          </a:solidFill>
          <a:ln w="7620">
            <a:solidFill>
              <a:srgbClr val="1769C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912864" y="4315968"/>
            <a:ext cx="438912" cy="438912"/>
          </a:xfrm>
          <a:prstGeom prst="ellipse">
            <a:avLst/>
          </a:prstGeom>
          <a:solidFill>
            <a:srgbClr val="1769C2"/>
          </a:solidFill>
          <a:ln w="12700">
            <a:solidFill>
              <a:srgbClr val="1769C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12864" y="4325112"/>
            <a:ext cx="4389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592824" y="4846320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31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历史轨迹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528816" y="5093208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1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运动趋势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607808" y="4398264"/>
            <a:ext cx="310896" cy="219456"/>
          </a:xfrm>
          <a:prstGeom prst="chevron">
            <a:avLst/>
          </a:prstGeom>
          <a:solidFill>
            <a:srgbClr val="1769C2"/>
          </a:solidFill>
          <a:ln w="7620">
            <a:solidFill>
              <a:srgbClr val="1769C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897112" y="4315968"/>
            <a:ext cx="438912" cy="438912"/>
          </a:xfrm>
          <a:prstGeom prst="ellipse">
            <a:avLst/>
          </a:prstGeom>
          <a:solidFill>
            <a:srgbClr val="B5121B"/>
          </a:solidFill>
          <a:ln w="12700">
            <a:solidFill>
              <a:srgbClr val="B5121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897112" y="4325112"/>
            <a:ext cx="4389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577072" y="4846320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31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未来预测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513064" y="5093208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1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决策预判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02920" y="6492240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1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模块输出保持可追溯，并为调度和路径规划提供时间连续性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20040"/>
            <a:ext cx="475488" cy="347472"/>
          </a:xfrm>
          <a:prstGeom prst="roundRect">
            <a:avLst>
              <a:gd name="adj" fmla="val 21053"/>
            </a:avLst>
          </a:prstGeom>
          <a:solidFill>
            <a:srgbClr val="0B3A75"/>
          </a:solidFill>
          <a:ln w="12700">
            <a:solidFill>
              <a:srgbClr val="0B3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20040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78992" y="274320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3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视觉跟踪实测效果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97280" y="722376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1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输入：pexels_aerial_2034115.mp4；输出：检测框、确认 ID、历史轨迹、Kalman 未来预测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11274552" cy="0"/>
          </a:xfrm>
          <a:prstGeom prst="line">
            <a:avLst/>
          </a:prstGeom>
          <a:noFill/>
          <a:ln w="13970">
            <a:solidFill>
              <a:srgbClr val="B7CA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98448"/>
            <a:ext cx="7333488" cy="4443984"/>
          </a:xfrm>
          <a:prstGeom prst="roundRect">
            <a:avLst>
              <a:gd name="adj" fmla="val 1646"/>
            </a:avLst>
          </a:prstGeom>
          <a:solidFill>
            <a:srgbClr val="F5F8FD"/>
          </a:solidFill>
          <a:ln w="12700">
            <a:solidFill>
              <a:srgbClr val="B7CAE4"/>
            </a:solidFill>
            <a:prstDash val="solid"/>
          </a:ln>
        </p:spPr>
      </p:sp>
      <p:pic>
        <p:nvPicPr>
          <p:cNvPr id="8" name="Image 0" descr="C:\Users\911MT\Documents\Codex\2026-08-15\https-github-com-hehong5-cvtrack-git-2\outputs\ros_full_demo\preview_fram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44752"/>
            <a:ext cx="7059168" cy="39684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5486400"/>
            <a:ext cx="7022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1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实测标注视频中间帧：目标框、ID、轨迹、预测线与顶部统计条均为原始输出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8083296" y="1298448"/>
            <a:ext cx="3611880" cy="4443984"/>
          </a:xfrm>
          <a:prstGeom prst="roundRect">
            <a:avLst>
              <a:gd name="adj" fmla="val 2025"/>
            </a:avLst>
          </a:prstGeom>
          <a:solidFill>
            <a:srgbClr val="EAF2FF"/>
          </a:solidFill>
          <a:ln w="12700">
            <a:solidFill>
              <a:srgbClr val="B7CAE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57616" y="1581912"/>
            <a:ext cx="3035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模型与输出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8366760" y="2130552"/>
            <a:ext cx="237744" cy="237744"/>
          </a:xfrm>
          <a:prstGeom prst="ellipse">
            <a:avLst/>
          </a:prstGeom>
          <a:solidFill>
            <a:srgbClr val="1769C2"/>
          </a:solidFill>
          <a:ln w="12700">
            <a:solidFill>
              <a:srgbClr val="1769C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41664" y="210312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31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9436608" y="21031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1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YOLOv8 VisDrone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366760" y="2807208"/>
            <a:ext cx="237744" cy="237744"/>
          </a:xfrm>
          <a:prstGeom prst="ellipse">
            <a:avLst/>
          </a:prstGeom>
          <a:solidFill>
            <a:srgbClr val="1769C2"/>
          </a:solidFill>
          <a:ln w="12700">
            <a:solidFill>
              <a:srgbClr val="1769C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41664" y="277977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31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9436608" y="277977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1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DeepSortCascade + OSNet ReID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366760" y="3483864"/>
            <a:ext cx="237744" cy="237744"/>
          </a:xfrm>
          <a:prstGeom prst="ellipse">
            <a:avLst/>
          </a:prstGeom>
          <a:solidFill>
            <a:srgbClr val="1769C2"/>
          </a:solidFill>
          <a:ln w="12700">
            <a:solidFill>
              <a:srgbClr val="1769C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741664" y="345643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31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9436608" y="345643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1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confirmed track + history trail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8366760" y="4160520"/>
            <a:ext cx="237744" cy="237744"/>
          </a:xfrm>
          <a:prstGeom prst="ellipse">
            <a:avLst/>
          </a:prstGeom>
          <a:solidFill>
            <a:srgbClr val="B5121B"/>
          </a:solidFill>
          <a:ln w="12700">
            <a:solidFill>
              <a:srgbClr val="B5121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741664" y="413308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31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9436608" y="413308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1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Kalman future projection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8339328" y="4956048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B7CAE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458200" y="5065776"/>
            <a:ext cx="2679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38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最终视频：tracked.mp4（可解码）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02920" y="6492240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1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严格保留源图：未重绘、未替换、未修改原始可视化内容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20040"/>
            <a:ext cx="475488" cy="347472"/>
          </a:xfrm>
          <a:prstGeom prst="roundRect">
            <a:avLst>
              <a:gd name="adj" fmla="val 21053"/>
            </a:avLst>
          </a:prstGeom>
          <a:solidFill>
            <a:srgbClr val="0B3A75"/>
          </a:solidFill>
          <a:ln w="12700">
            <a:solidFill>
              <a:srgbClr val="0B3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20040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78992" y="274320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3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数据结果与运行质量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97280" y="722376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1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输出可复现、视频可播放、轨迹可追溯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11274552" cy="0"/>
          </a:xfrm>
          <a:prstGeom prst="line">
            <a:avLst/>
          </a:prstGeom>
          <a:noFill/>
          <a:ln w="13970">
            <a:solidFill>
              <a:srgbClr val="B7CA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417320"/>
            <a:ext cx="2029968" cy="1024128"/>
          </a:xfrm>
          <a:prstGeom prst="roundRect">
            <a:avLst>
              <a:gd name="adj" fmla="val 7143"/>
            </a:avLst>
          </a:prstGeom>
          <a:solidFill>
            <a:srgbClr val="F5F8FD"/>
          </a:solidFill>
          <a:ln w="12700">
            <a:solidFill>
              <a:srgbClr val="B7C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600200"/>
            <a:ext cx="17007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769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722376" y="2066544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处理视频帧数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61488" y="1417320"/>
            <a:ext cx="2029968" cy="1024128"/>
          </a:xfrm>
          <a:prstGeom prst="roundRect">
            <a:avLst>
              <a:gd name="adj" fmla="val 7143"/>
            </a:avLst>
          </a:prstGeom>
          <a:solidFill>
            <a:srgbClr val="F5F8FD"/>
          </a:solidFill>
          <a:ln w="12700">
            <a:solidFill>
              <a:srgbClr val="B7CA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0" y="1600200"/>
            <a:ext cx="17007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640 x 360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2889504" y="2066544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输入分辨率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928616" y="1417320"/>
            <a:ext cx="2029968" cy="1024128"/>
          </a:xfrm>
          <a:prstGeom prst="roundRect">
            <a:avLst>
              <a:gd name="adj" fmla="val 7143"/>
            </a:avLst>
          </a:prstGeom>
          <a:solidFill>
            <a:srgbClr val="F5F8FD"/>
          </a:solidFill>
          <a:ln w="12700">
            <a:solidFill>
              <a:srgbClr val="B7CA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93208" y="1600200"/>
            <a:ext cx="17007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18B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6.674 s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5056632" y="2066544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 MP4 时长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095744" y="1417320"/>
            <a:ext cx="2029968" cy="1024128"/>
          </a:xfrm>
          <a:prstGeom prst="roundRect">
            <a:avLst>
              <a:gd name="adj" fmla="val 7143"/>
            </a:avLst>
          </a:prstGeom>
          <a:solidFill>
            <a:srgbClr val="F5F8FD"/>
          </a:solidFill>
          <a:ln w="12700">
            <a:solidFill>
              <a:srgbClr val="B7CA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60336" y="1600200"/>
            <a:ext cx="17007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769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3,395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7223760" y="2066544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轨迹记录条数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262872" y="1417320"/>
            <a:ext cx="2331720" cy="1024128"/>
          </a:xfrm>
          <a:prstGeom prst="roundRect">
            <a:avLst>
              <a:gd name="adj" fmla="val 7143"/>
            </a:avLst>
          </a:prstGeom>
          <a:solidFill>
            <a:srgbClr val="F5F8FD"/>
          </a:solidFill>
          <a:ln w="12700">
            <a:solidFill>
              <a:srgbClr val="B7CA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27464" y="1600200"/>
            <a:ext cx="20025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38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mp4v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9390888" y="2066544"/>
            <a:ext cx="2075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导出编码并已解码验证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4360" y="2852928"/>
            <a:ext cx="6629400" cy="2331720"/>
          </a:xfrm>
          <a:prstGeom prst="roundRect">
            <a:avLst>
              <a:gd name="adj" fmla="val 3137"/>
            </a:avLst>
          </a:prstGeom>
          <a:solidFill>
            <a:srgbClr val="F5F8FD"/>
          </a:solidFill>
          <a:ln w="12700">
            <a:solidFill>
              <a:srgbClr val="B7CA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" y="313639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数据产物链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14400" y="3611880"/>
            <a:ext cx="1024128" cy="283464"/>
          </a:xfrm>
          <a:prstGeom prst="roundRect">
            <a:avLst>
              <a:gd name="adj" fmla="val 25806"/>
            </a:avLst>
          </a:prstGeom>
          <a:solidFill>
            <a:srgbClr val="1769C2"/>
          </a:solidFill>
          <a:ln w="12700">
            <a:solidFill>
              <a:srgbClr val="1769C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7552" y="3621024"/>
            <a:ext cx="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输入视频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121408" y="3657600"/>
            <a:ext cx="45171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831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pexels_aerial_2034115.mp4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14400" y="3959352"/>
            <a:ext cx="1024128" cy="283464"/>
          </a:xfrm>
          <a:prstGeom prst="roundRect">
            <a:avLst>
              <a:gd name="adj" fmla="val 25806"/>
            </a:avLst>
          </a:prstGeom>
          <a:solidFill>
            <a:srgbClr val="1769C2"/>
          </a:solidFill>
          <a:ln w="12700">
            <a:solidFill>
              <a:srgbClr val="1769C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7552" y="3968496"/>
            <a:ext cx="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标注视频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121408" y="4005072"/>
            <a:ext cx="45171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831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tracked.mp4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14400" y="4306824"/>
            <a:ext cx="1024128" cy="283464"/>
          </a:xfrm>
          <a:prstGeom prst="roundRect">
            <a:avLst>
              <a:gd name="adj" fmla="val 25806"/>
            </a:avLst>
          </a:prstGeom>
          <a:solidFill>
            <a:srgbClr val="1769C2"/>
          </a:solidFill>
          <a:ln w="12700">
            <a:solidFill>
              <a:srgbClr val="1769C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7552" y="4315968"/>
            <a:ext cx="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轨迹数据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121408" y="4352544"/>
            <a:ext cx="45171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831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tracks.csv + tracks_future.csv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14400" y="4654296"/>
            <a:ext cx="1024128" cy="283464"/>
          </a:xfrm>
          <a:prstGeom prst="roundRect">
            <a:avLst>
              <a:gd name="adj" fmla="val 25806"/>
            </a:avLst>
          </a:prstGeom>
          <a:solidFill>
            <a:srgbClr val="B5121B"/>
          </a:solidFill>
          <a:ln w="12700">
            <a:solidFill>
              <a:srgbClr val="B5121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7552" y="4663440"/>
            <a:ext cx="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节点证据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121408" y="4700016"/>
            <a:ext cx="45171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831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perception / planner / scheduler logs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461504" y="2852928"/>
            <a:ext cx="4133088" cy="2331720"/>
          </a:xfrm>
          <a:prstGeom prst="roundRect">
            <a:avLst>
              <a:gd name="adj" fmla="val 3137"/>
            </a:avLst>
          </a:prstGeom>
          <a:solidFill>
            <a:srgbClr val="EAF2FF"/>
          </a:solidFill>
          <a:ln w="12700">
            <a:solidFill>
              <a:srgbClr val="B7CA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54112" y="313639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运行环境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754112" y="3630168"/>
            <a:ext cx="325526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831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PyTorch 2.13.0 + CUDA 构建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831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实际执行 CPU 推理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831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ROS2 Humble 虚拟机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831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视频导出兼容性已验证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94360" y="5513832"/>
            <a:ext cx="11000232" cy="484632"/>
          </a:xfrm>
          <a:prstGeom prst="roundRect">
            <a:avLst>
              <a:gd name="adj" fmla="val 15094"/>
            </a:avLst>
          </a:prstGeom>
          <a:solidFill>
            <a:srgbClr val="EAF2FF"/>
          </a:solidFill>
          <a:ln w="12700">
            <a:solidFill>
              <a:srgbClr val="B7CAE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8680" y="5641848"/>
            <a:ext cx="10469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512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结论：从视频处理到 CSV、日志和最终 MP4 的每个产物均可独立复核。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502920" y="6492240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1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实测证据覆盖视觉结果、数据文件和 ROS 节点日志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20040"/>
            <a:ext cx="475488" cy="347472"/>
          </a:xfrm>
          <a:prstGeom prst="roundRect">
            <a:avLst>
              <a:gd name="adj" fmla="val 21053"/>
            </a:avLst>
          </a:prstGeom>
          <a:solidFill>
            <a:srgbClr val="0B3A75"/>
          </a:solidFill>
          <a:ln w="12700">
            <a:solidFill>
              <a:srgbClr val="0B3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20040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78992" y="274320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3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全链路决策实测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97280" y="722376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1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从确认目标到多无人机封控指令的 ROS2 闭环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11274552" cy="0"/>
          </a:xfrm>
          <a:prstGeom prst="line">
            <a:avLst/>
          </a:prstGeom>
          <a:noFill/>
          <a:ln w="13970">
            <a:solidFill>
              <a:srgbClr val="B7CA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371600"/>
            <a:ext cx="2587752" cy="2834640"/>
          </a:xfrm>
          <a:prstGeom prst="roundRect">
            <a:avLst>
              <a:gd name="adj" fmla="val 2827"/>
            </a:avLst>
          </a:prstGeom>
          <a:solidFill>
            <a:srgbClr val="F5F8FD"/>
          </a:solidFill>
          <a:ln w="12700">
            <a:solidFill>
              <a:srgbClr val="B7CA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371600"/>
            <a:ext cx="2587752" cy="320040"/>
          </a:xfrm>
          <a:prstGeom prst="roundRect">
            <a:avLst>
              <a:gd name="adj" fmla="val 22857"/>
            </a:avLst>
          </a:prstGeom>
          <a:solidFill>
            <a:srgbClr val="1769C2"/>
          </a:solidFill>
          <a:ln w="12700">
            <a:solidFill>
              <a:srgbClr val="1769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" y="141732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1417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目标跟踪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1335024" y="1929384"/>
            <a:ext cx="612648" cy="612648"/>
          </a:xfrm>
          <a:prstGeom prst="ellipse">
            <a:avLst/>
          </a:prstGeom>
          <a:solidFill>
            <a:srgbClr val="1769C2"/>
          </a:solidFill>
          <a:ln w="12700">
            <a:solidFill>
              <a:srgbClr val="1769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743200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/target_track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0352" y="329184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1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确认目标进入系统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980944" y="2633472"/>
            <a:ext cx="256032" cy="292608"/>
          </a:xfrm>
          <a:prstGeom prst="chevron">
            <a:avLst/>
          </a:prstGeom>
          <a:solidFill>
            <a:srgbClr val="1769C2"/>
          </a:solidFill>
          <a:ln w="7620">
            <a:solidFill>
              <a:srgbClr val="1769C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10128" y="1371600"/>
            <a:ext cx="2587752" cy="2834640"/>
          </a:xfrm>
          <a:prstGeom prst="roundRect">
            <a:avLst>
              <a:gd name="adj" fmla="val 2827"/>
            </a:avLst>
          </a:prstGeom>
          <a:solidFill>
            <a:srgbClr val="F5F8FD"/>
          </a:solidFill>
          <a:ln w="12700">
            <a:solidFill>
              <a:srgbClr val="B7CA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10128" y="1371600"/>
            <a:ext cx="2587752" cy="320040"/>
          </a:xfrm>
          <a:prstGeom prst="roundRect">
            <a:avLst>
              <a:gd name="adj" fmla="val 2285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141732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94176" y="1417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任务分配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4297680" y="1929384"/>
            <a:ext cx="612648" cy="6126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9584" y="2743200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个活跃任务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493008" y="329184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1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drone 0 -&gt; target 459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43600" y="2633472"/>
            <a:ext cx="256032" cy="292608"/>
          </a:xfrm>
          <a:prstGeom prst="chevron">
            <a:avLst/>
          </a:prstGeom>
          <a:solidFill>
            <a:srgbClr val="1769C2"/>
          </a:solidFill>
          <a:ln w="7620">
            <a:solidFill>
              <a:srgbClr val="1769C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72784" y="1371600"/>
            <a:ext cx="2587752" cy="2834640"/>
          </a:xfrm>
          <a:prstGeom prst="roundRect">
            <a:avLst>
              <a:gd name="adj" fmla="val 2827"/>
            </a:avLst>
          </a:prstGeom>
          <a:solidFill>
            <a:srgbClr val="F5F8FD"/>
          </a:solidFill>
          <a:ln w="12700">
            <a:solidFill>
              <a:srgbClr val="B7CA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72784" y="1371600"/>
            <a:ext cx="2587752" cy="320040"/>
          </a:xfrm>
          <a:prstGeom prst="roundRect">
            <a:avLst>
              <a:gd name="adj" fmla="val 22857"/>
            </a:avLst>
          </a:prstGeom>
          <a:solidFill>
            <a:srgbClr val="E18B17"/>
          </a:solidFill>
          <a:ln w="12700">
            <a:solidFill>
              <a:srgbClr val="E18B1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91656" y="141732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656832" y="1417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路径规划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7260336" y="1929384"/>
            <a:ext cx="612648" cy="612648"/>
          </a:xfrm>
          <a:prstGeom prst="ellipse">
            <a:avLst/>
          </a:prstGeom>
          <a:solidFill>
            <a:srgbClr val="E18B17"/>
          </a:solidFill>
          <a:ln w="12700">
            <a:solidFill>
              <a:srgbClr val="E18B1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2743200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架无人机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55664" y="329184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1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world-frame 路径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906256" y="2633472"/>
            <a:ext cx="256032" cy="292608"/>
          </a:xfrm>
          <a:prstGeom prst="chevron">
            <a:avLst/>
          </a:prstGeom>
          <a:solidFill>
            <a:srgbClr val="1769C2"/>
          </a:solidFill>
          <a:ln w="7620">
            <a:solidFill>
              <a:srgbClr val="1769C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235440" y="1371600"/>
            <a:ext cx="2587752" cy="2834640"/>
          </a:xfrm>
          <a:prstGeom prst="roundRect">
            <a:avLst>
              <a:gd name="adj" fmla="val 2827"/>
            </a:avLst>
          </a:prstGeom>
          <a:solidFill>
            <a:srgbClr val="F5F8FD"/>
          </a:solidFill>
          <a:ln w="12700">
            <a:solidFill>
              <a:srgbClr val="B7CAE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235440" y="1371600"/>
            <a:ext cx="2587752" cy="320040"/>
          </a:xfrm>
          <a:prstGeom prst="roundRect">
            <a:avLst>
              <a:gd name="adj" fmla="val 22857"/>
            </a:avLst>
          </a:prstGeom>
          <a:solidFill>
            <a:srgbClr val="B5121B"/>
          </a:solidFill>
          <a:ln w="12700">
            <a:solidFill>
              <a:srgbClr val="B5121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54312" y="141732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619488" y="1417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协同封控</a:t>
            </a:r>
            <a:endParaRPr lang="en-US" sz="1450" dirty="0"/>
          </a:p>
        </p:txBody>
      </p:sp>
      <p:sp>
        <p:nvSpPr>
          <p:cNvPr id="35" name="Shape 33"/>
          <p:cNvSpPr/>
          <p:nvPr/>
        </p:nvSpPr>
        <p:spPr>
          <a:xfrm>
            <a:off x="10222992" y="1929384"/>
            <a:ext cx="612648" cy="612648"/>
          </a:xfrm>
          <a:prstGeom prst="ellipse">
            <a:avLst/>
          </a:prstGeom>
          <a:solidFill>
            <a:srgbClr val="B5121B"/>
          </a:solidFill>
          <a:ln w="12700">
            <a:solidFill>
              <a:srgbClr val="B5121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454896" y="2743200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条 Voronoi 指令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418320" y="329184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1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半径 25.0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66928" y="4617720"/>
            <a:ext cx="3337560" cy="603504"/>
          </a:xfrm>
          <a:prstGeom prst="roundRect">
            <a:avLst>
              <a:gd name="adj" fmla="val 12121"/>
            </a:avLst>
          </a:prstGeom>
          <a:solidFill>
            <a:srgbClr val="EAF2FF"/>
          </a:solidFill>
          <a:ln w="12700">
            <a:solidFill>
              <a:srgbClr val="B7CAE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41248" y="4782312"/>
            <a:ext cx="256032" cy="256032"/>
          </a:xfrm>
          <a:prstGeom prst="ellipse">
            <a:avLst/>
          </a:prstGeom>
          <a:solidFill>
            <a:srgbClr val="1769C2"/>
          </a:solidFill>
          <a:ln w="12700">
            <a:solidFill>
              <a:srgbClr val="1769C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234440" y="479145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31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调度周期 250 ms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315968" y="4617720"/>
            <a:ext cx="3337560" cy="603504"/>
          </a:xfrm>
          <a:prstGeom prst="roundRect">
            <a:avLst>
              <a:gd name="adj" fmla="val 12121"/>
            </a:avLst>
          </a:prstGeom>
          <a:solidFill>
            <a:srgbClr val="EAF2FF"/>
          </a:solidFill>
          <a:ln w="12700">
            <a:solidFill>
              <a:srgbClr val="B7CAE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90288" y="4782312"/>
            <a:ext cx="256032" cy="25603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83480" y="479145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31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planner 输出 8 条路径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8065008" y="4617720"/>
            <a:ext cx="3337560" cy="603504"/>
          </a:xfrm>
          <a:prstGeom prst="roundRect">
            <a:avLst>
              <a:gd name="adj" fmla="val 12121"/>
            </a:avLst>
          </a:prstGeom>
          <a:solidFill>
            <a:srgbClr val="EAF2FF"/>
          </a:solidFill>
          <a:ln w="12700">
            <a:solidFill>
              <a:srgbClr val="B7CAE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339328" y="4782312"/>
            <a:ext cx="256032" cy="256032"/>
          </a:xfrm>
          <a:prstGeom prst="ellipse">
            <a:avLst/>
          </a:prstGeom>
          <a:solidFill>
            <a:srgbClr val="B5121B"/>
          </a:solidFill>
          <a:ln w="12700">
            <a:solidFill>
              <a:srgbClr val="B5121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732520" y="479145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31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封控指令可执行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566928" y="5559552"/>
            <a:ext cx="11009376" cy="530352"/>
          </a:xfrm>
          <a:prstGeom prst="roundRect">
            <a:avLst>
              <a:gd name="adj" fmla="val 13793"/>
            </a:avLst>
          </a:prstGeom>
          <a:solidFill>
            <a:srgbClr val="F5F8FD"/>
          </a:solidFill>
          <a:ln w="12700">
            <a:solidFill>
              <a:srgbClr val="B7CAE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04672" y="5696712"/>
            <a:ext cx="10543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512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 视频识别 -&gt; 跟踪 -&gt; 调度 -&gt; 路径 -&gt; 封控 的 ROS2 闭环验证</a:t>
            </a:r>
            <a:endParaRPr lang="en-US" sz="1700" dirty="0"/>
          </a:p>
        </p:txBody>
      </p:sp>
      <p:sp>
        <p:nvSpPr>
          <p:cNvPr id="49" name="Text 47"/>
          <p:cNvSpPr/>
          <p:nvPr/>
        </p:nvSpPr>
        <p:spPr>
          <a:xfrm>
            <a:off x="502920" y="6492240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1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任务、路径与封控指令均由实际 ROS2 topic 与日志采样验证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20040"/>
            <a:ext cx="475488" cy="347472"/>
          </a:xfrm>
          <a:prstGeom prst="roundRect">
            <a:avLst>
              <a:gd name="adj" fmla="val 21053"/>
            </a:avLst>
          </a:prstGeom>
          <a:solidFill>
            <a:srgbClr val="0B3A75"/>
          </a:solidFill>
          <a:ln w="12700">
            <a:solidFill>
              <a:srgbClr val="0B3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20040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78992" y="274320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3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结论与下一步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97280" y="722376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1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从工程闭环验证走向仿真和真实飞控闭环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11274552" cy="0"/>
          </a:xfrm>
          <a:prstGeom prst="line">
            <a:avLst/>
          </a:prstGeom>
          <a:noFill/>
          <a:ln w="13970">
            <a:solidFill>
              <a:srgbClr val="B7CA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389888"/>
            <a:ext cx="3730752" cy="4160520"/>
          </a:xfrm>
          <a:prstGeom prst="roundRect">
            <a:avLst>
              <a:gd name="adj" fmla="val 1961"/>
            </a:avLst>
          </a:prstGeom>
          <a:solidFill>
            <a:srgbClr val="EAF2FF"/>
          </a:solidFill>
          <a:ln w="12700">
            <a:solidFill>
              <a:srgbClr val="B7C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719072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512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41832" y="2258568"/>
            <a:ext cx="219456" cy="219456"/>
          </a:xfrm>
          <a:prstGeom prst="ellipse">
            <a:avLst/>
          </a:prstGeom>
          <a:solidFill>
            <a:srgbClr val="138A72"/>
          </a:solidFill>
          <a:ln w="12700">
            <a:solidFill>
              <a:srgbClr val="138A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98448" y="2221992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831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视频识别 -&gt; 跟踪 -&gt; 调度 -&gt; 路径 -&gt; 封控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41832" y="2871216"/>
            <a:ext cx="219456" cy="219456"/>
          </a:xfrm>
          <a:prstGeom prst="ellipse">
            <a:avLst/>
          </a:prstGeom>
          <a:solidFill>
            <a:srgbClr val="138A72"/>
          </a:solidFill>
          <a:ln w="12700">
            <a:solidFill>
              <a:srgbClr val="138A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98448" y="2834640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831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ROS2 topic 级闭环验证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3483864"/>
            <a:ext cx="219456" cy="219456"/>
          </a:xfrm>
          <a:prstGeom prst="ellipse">
            <a:avLst/>
          </a:prstGeom>
          <a:solidFill>
            <a:srgbClr val="138A72"/>
          </a:solidFill>
          <a:ln w="12700">
            <a:solidFill>
              <a:srgbClr val="138A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98448" y="3447288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831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MP4、CSV、日志三类可复核证据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41832" y="4096512"/>
            <a:ext cx="219456" cy="219456"/>
          </a:xfrm>
          <a:prstGeom prst="ellipse">
            <a:avLst/>
          </a:prstGeom>
          <a:solidFill>
            <a:srgbClr val="138A72"/>
          </a:solidFill>
          <a:ln w="12700">
            <a:solidFill>
              <a:srgbClr val="138A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98448" y="4059936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831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何泓林跟踪模块兼顾关联质量与工程兼容性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617720" y="1389888"/>
            <a:ext cx="6976872" cy="4160520"/>
          </a:xfrm>
          <a:prstGeom prst="roundRect">
            <a:avLst>
              <a:gd name="adj" fmla="val 1758"/>
            </a:avLst>
          </a:prstGeom>
          <a:solidFill>
            <a:srgbClr val="F5F8FD"/>
          </a:solidFill>
          <a:ln w="12700">
            <a:solidFill>
              <a:srgbClr val="B7CA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171907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下一步路线图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937760" y="2331720"/>
            <a:ext cx="1865376" cy="224028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B7CA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86984" y="2596896"/>
            <a:ext cx="566928" cy="566928"/>
          </a:xfrm>
          <a:prstGeom prst="ellipse">
            <a:avLst/>
          </a:prstGeom>
          <a:solidFill>
            <a:srgbClr val="1769C2"/>
          </a:solidFill>
          <a:ln w="12700">
            <a:solidFill>
              <a:srgbClr val="1769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86984" y="2615184"/>
            <a:ext cx="5669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102352" y="3401568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坐标闭环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38928" y="3822192"/>
            <a:ext cx="1453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接入相机标定与像素-世界坐标变换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086600" y="2331720"/>
            <a:ext cx="1865376" cy="224028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B7CA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35824" y="2596896"/>
            <a:ext cx="566928" cy="5669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35824" y="2615184"/>
            <a:ext cx="5669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51192" y="3401568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仿真联调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287768" y="3822192"/>
            <a:ext cx="1453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 RflySim / PX4，验证飞控交互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235440" y="2331720"/>
            <a:ext cx="1865376" cy="224028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B7CA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884664" y="2596896"/>
            <a:ext cx="566928" cy="566928"/>
          </a:xfrm>
          <a:prstGeom prst="ellipse">
            <a:avLst/>
          </a:prstGeom>
          <a:solidFill>
            <a:srgbClr val="B5121B"/>
          </a:solidFill>
          <a:ln w="12700">
            <a:solidFill>
              <a:srgbClr val="B5121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84664" y="2615184"/>
            <a:ext cx="5669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400032" y="3401568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能力沉淀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436608" y="3822192"/>
            <a:ext cx="1453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多源传感融合与 MOT 指标评测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94360" y="5760720"/>
            <a:ext cx="11000232" cy="457200"/>
          </a:xfrm>
          <a:prstGeom prst="roundRect">
            <a:avLst>
              <a:gd name="adj" fmla="val 16000"/>
            </a:avLst>
          </a:prstGeom>
          <a:solidFill>
            <a:srgbClr val="0B3A75"/>
          </a:solidFill>
          <a:ln w="12700">
            <a:solidFill>
              <a:srgbClr val="0B3A7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1248" y="5870448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当前成果验证了决策链路，下一阶段将把“像素级目标状态”升级为“可直接驱动飞控的世界坐标任务”。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02920" y="6492240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1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汇报完毕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50292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D9488"/>
                </a:solidFill>
                <a:latin typeface="Microsoft YaHei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92608"/>
            <a:ext cx="1037844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13263F"/>
                </a:solidFill>
                <a:latin typeface="Microsoft YaHei"/>
              </a:rPr>
              <a:t>接口决议归档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1288" y="804672"/>
            <a:ext cx="1024128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D-1 ~ D-12：把联调约定固化为可检查的工程契约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1234440" cy="38404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62456"/>
            <a:ext cx="11430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时间戳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1344168"/>
            <a:ext cx="909828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</a:rPr>
              <a:t>DroneStateArray.header.stamp 用于跨感知与平台状态对齐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39112"/>
            <a:ext cx="123444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75688"/>
            <a:ext cx="11430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坐标系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2057400"/>
            <a:ext cx="909828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</a:rPr>
              <a:t>drone_states / target_track_world 使用 world ENU；像素轨迹保持 camera frame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752344"/>
            <a:ext cx="1234440" cy="38404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788920"/>
            <a:ext cx="11430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任务接口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770632"/>
            <a:ext cx="909828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</a:rPr>
              <a:t>TaskAssignment 只携带 drone_id、target_id、task_type，避免坐标重复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65576"/>
            <a:ext cx="1234440" cy="38404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502152"/>
            <a:ext cx="11430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QoS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3483864"/>
            <a:ext cx="909828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</a:rPr>
              <a:t>除 raw image 外统一 RELIABLE depth=10；传感器输入使用 sensor-compatible QoS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178808"/>
            <a:ext cx="123444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215384"/>
            <a:ext cx="11430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容错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4197096"/>
            <a:ext cx="909828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</a:rPr>
              <a:t>上游未发消息时下游保持可启动；全量 snapshot 重发，不依赖 latched state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892040"/>
            <a:ext cx="1234440" cy="38404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928616"/>
            <a:ext cx="11430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命名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4910328"/>
            <a:ext cx="909828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</a:rPr>
              <a:t>C1 阶段保留 root topics；多实例由后续 robot_id 机制扩展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Microsoft YaHei"/>
              </a:rPr>
              <a:t>来源：docs/integration/interface_alignment.md · docs/interface/D-1_D-12_接口决议归档.md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50292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D9488"/>
                </a:solidFill>
                <a:latin typeface="Microsoft YaHei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92608"/>
            <a:ext cx="1037844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13263F"/>
                </a:solidFill>
                <a:latin typeface="Microsoft YaHei"/>
              </a:rPr>
              <a:t>感知与接口回归验证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1288" y="804672"/>
            <a:ext cx="1024128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修复后在 ROS2 Humble 隔离 overlay 中复测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429000" cy="2011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444752"/>
            <a:ext cx="309981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0D9488"/>
                </a:solidFill>
                <a:latin typeface="Microsoft YaHei"/>
              </a:rPr>
              <a:t>Tracker / Fusion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01368"/>
            <a:ext cx="3099816" cy="1426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Microsoft YaHei"/>
              </a:rPr>
              <a:t>28 passed · 10 skipped
包含 NumPy 数组断言修复、时间戳对齐、多源融合生命周期回归。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325880"/>
            <a:ext cx="3429000" cy="2011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5424" y="1444752"/>
            <a:ext cx="309981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Microsoft YaHei"/>
              </a:rPr>
              <a:t>Planning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5424" y="1801368"/>
            <a:ext cx="3099816" cy="1426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Microsoft YaHei"/>
              </a:rPr>
              <a:t>23 passed
规划包测试通过，覆盖路径输出与 planner 相关行为。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55864" y="1325880"/>
            <a:ext cx="3429000" cy="2011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0456" y="1444752"/>
            <a:ext cx="309981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Microsoft YaHei"/>
              </a:rPr>
              <a:t>Message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0456" y="1801368"/>
            <a:ext cx="3099816" cy="1426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Microsoft YaHei"/>
              </a:rPr>
              <a:t>DroneStateArray
生成消息确认包含 std_msgs/Header header，Python import 正常。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794760"/>
            <a:ext cx="1234440" cy="29260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3803904"/>
            <a:ext cx="1197864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CI · 已验证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40280" y="3794760"/>
            <a:ext cx="1234440" cy="29260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58568" y="3803904"/>
            <a:ext cx="1197864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SITL运行 · 已验证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03320" y="3794760"/>
            <a:ext cx="1234440" cy="29260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7" y="3803904"/>
            <a:ext cx="1197864" cy="246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2h挂机 · 已验证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389120"/>
            <a:ext cx="1051560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Microsoft YaHei"/>
              </a:rPr>
              <a:t>验证边界：PX4/Gazebo/MAVROS smoke 与三链路八节点 headless 浸泡测试已有原始证据；不等同于 Offboard 飞行或桌面录屏。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Microsoft YaHei"/>
              </a:rPr>
              <a:t>何泓林工作流 · Swarm-Control-System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50292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D9488"/>
                </a:solidFill>
                <a:latin typeface="Microsoft YaHei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92608"/>
            <a:ext cx="1037844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13263F"/>
                </a:solidFill>
                <a:latin typeface="Microsoft YaHei"/>
              </a:rPr>
              <a:t>单机 PX4 SITL 桥接设计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1288" y="804672"/>
            <a:ext cx="1024128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当前 profile 明确支持 num_uav:=1，避免把未验证的多机能力写成已交付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2286000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627631"/>
            <a:ext cx="195681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Microsoft YaHei"/>
              </a:rPr>
              <a:t>PX4 + Gazebo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984248"/>
            <a:ext cx="1956816" cy="13350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</a:rPr>
              <a:t>sitl_run.sh
Gazebo Classic iris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999232" y="2212848"/>
            <a:ext cx="384048" cy="347472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56432" y="1508760"/>
            <a:ext cx="2286000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21024" y="1627631"/>
            <a:ext cx="195681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0D9488"/>
                </a:solidFill>
                <a:latin typeface="Microsoft YaHei"/>
              </a:rPr>
              <a:t>MAVROS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21024" y="1984248"/>
            <a:ext cx="1956816" cy="13350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</a:rPr>
              <a:t>/uav0/mavros/state
local_position/pose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15584" y="2212848"/>
            <a:ext cx="384048" cy="347472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72784" y="1508760"/>
            <a:ext cx="2286000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1627631"/>
            <a:ext cx="195681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Microsoft YaHei"/>
              </a:rPr>
              <a:t>Pose bridge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1984248"/>
            <a:ext cx="1956816" cy="13350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</a:rPr>
              <a:t>PoseStamped -&gt;
/drone_pose_external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631936" y="2212848"/>
            <a:ext cx="384048" cy="347472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089136" y="1508760"/>
            <a:ext cx="2286000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53728" y="1627631"/>
            <a:ext cx="195681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DC2626"/>
                </a:solidFill>
                <a:latin typeface="Microsoft YaHei"/>
              </a:rPr>
              <a:t>Offboard bridge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3728" y="1984248"/>
            <a:ext cx="1956816" cy="13350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</a:rPr>
              <a:t>/planned_path -&gt;
setpoint_raw/local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977639"/>
            <a:ext cx="1042416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Microsoft YaHei"/>
              </a:rPr>
              <a:t>关键修复：反馈订阅统一为 /uav0/mavros/local_position/pose，并使用 sensor QoS；DroneStateArray 带 header 时间戳。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663440"/>
            <a:ext cx="104241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Microsoft YaHei"/>
              </a:rPr>
              <a:t>运行前提：PX4_SITL_ROOT 指向已构建的 PX4-Autopilot；Gazebo Classic、MAVROS 与 GeographicLib 数据集已安装。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Microsoft YaHei"/>
              </a:rPr>
              <a:t>来源：docs/simulation/px4_sitl_setup.md · planning_pkg/launch/px4_sitl.launch.py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50292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D9488"/>
                </a:solidFill>
                <a:latin typeface="Microsoft YaHei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92608"/>
            <a:ext cx="1037844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13263F"/>
                </a:solidFill>
                <a:latin typeface="Microsoft YaHei"/>
              </a:rPr>
              <a:t>可复现运行与证据采集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1288" y="804672"/>
            <a:ext cx="1024128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脚本负责启动、观察、归档；结果文件与运行声明分开管理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5166360" cy="3383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490472"/>
            <a:ext cx="483717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Microsoft YaHei"/>
              </a:rPr>
              <a:t>一键入口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47088"/>
            <a:ext cx="4837176" cy="2798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</a:rPr>
              <a:t>1  source /opt/ros/humble/setup.bash
2  source ros2_ws/install/setup.bash
3  PX4_SITL_ROOT=... ros2 launch planning_pkg px4_sitl.launch.py
4  ros2 topic echo /uav0/mavros/state --once
5  ros2 topic hz /drone_pose_external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371600"/>
            <a:ext cx="5166360" cy="3383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91072" y="1490472"/>
            <a:ext cx="483717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0D9488"/>
                </a:solidFill>
                <a:latin typeface="Microsoft YaHei"/>
              </a:rPr>
              <a:t>无人值守入口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91072" y="1847088"/>
            <a:ext cx="4837176" cy="2798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</a:rPr>
              <a:t>scripts/run_soak_test.sh
默认 7200 秒，周期记录 RSS、节点数、日志、CSV 与 JSON。
通过标准：elapsed_duration_s 达标、launch_alive=1、无 traceback。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212080"/>
            <a:ext cx="104241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Microsoft YaHei"/>
              </a:rPr>
              <a:t>当前仓库不伪造 MP4：pseudo / ros2bag 只生成日志或 bag；真实视频必须使用有桌面会话的 ffmpeg 模式。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Microsoft YaHei"/>
              </a:rPr>
              <a:t>来源：scripts/run_soak_test.sh · scripts/record_three_links.sh · docs/evidence/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50292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D9488"/>
                </a:solidFill>
                <a:latin typeface="Microsoft YaHei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92608"/>
            <a:ext cx="1037844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13263F"/>
                </a:solidFill>
                <a:latin typeface="Microsoft YaHei"/>
              </a:rPr>
              <a:t>仿真验证状态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1288" y="804672"/>
            <a:ext cx="1024128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SITL smoke 与 headless 三链路浸泡测试已按证据分层记录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074920" cy="1645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444752"/>
            <a:ext cx="474573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0D9488"/>
                </a:solidFill>
                <a:latin typeface="Microsoft YaHei"/>
              </a:rPr>
              <a:t>已验证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01368"/>
            <a:ext cx="4745736" cy="10607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</a:rPr>
              <a:t>PX4/Gazebo/MAVROS smoke
Heartbeat、pose、DroneStateArray
planned_path -&gt; MAVROS setpoint
8 节点三链路 headless soak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325880"/>
            <a:ext cx="5074920" cy="1645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45352" y="1444752"/>
            <a:ext cx="474573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Microsoft YaHei"/>
              </a:rPr>
              <a:t>仍待采集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5352" y="1801368"/>
            <a:ext cx="4745736" cy="10607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</a:rPr>
              <a:t>Gazebo 桌面窗口 / 全系统 MP4
三场景精剪与可视化指标
真实设备与 Offboard 飞行
不以 headless 证据替代上述内容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20440"/>
            <a:ext cx="1024128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13263F"/>
                </a:solidFill>
                <a:latin typeface="Microsoft YaHei"/>
              </a:rPr>
              <a:t>验收顺序已完成：IP/UDP -&gt; DDS discovery -&gt; MAVROS heartbeat -&gt; pose bridge -&gt; planned_path -&gt; soak evidence。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572000"/>
            <a:ext cx="102412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验收顺序：IP/UDP -&gt; DDS discovery -&gt; MAVROS heartbeat -&gt; pose bridge -&gt; planned_path -&gt; soak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Microsoft YaHei"/>
              </a:rPr>
              <a:t>状态标签：已验证 = 有测试或日志；待采集 = 依赖 VM 软件安装后的真实运行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50292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D9488"/>
                </a:solidFill>
                <a:latin typeface="Microsoft YaHei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92608"/>
            <a:ext cx="1037844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13263F"/>
                </a:solidFill>
                <a:latin typeface="Microsoft YaHei"/>
              </a:rPr>
              <a:t>当前可复核数据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1288" y="804672"/>
            <a:ext cx="1024128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历史感知实测、SITL smoke 与 headless soak 分开呈现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280160"/>
          <a:ext cx="566928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812280" y="1325880"/>
            <a:ext cx="448056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76872" y="1444752"/>
            <a:ext cx="415137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Microsoft YaHei"/>
              </a:rPr>
              <a:t>历史感知产物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76872" y="1801368"/>
            <a:ext cx="4151376" cy="5577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Microsoft YaHei"/>
              </a:rPr>
              <a:t>tracks.csv 记录行数：3,395
tracked.mp4、preview_frame.jpg、planner/scheduler/perception logs 已留存。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12280" y="2697480"/>
            <a:ext cx="448056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76872" y="2816352"/>
            <a:ext cx="415137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0D9488"/>
                </a:solidFill>
                <a:latin typeface="Microsoft YaHei"/>
              </a:rPr>
              <a:t>当前回归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76872" y="3172968"/>
            <a:ext cx="4151376" cy="5577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Microsoft YaHei"/>
              </a:rPr>
              <a:t>28 passed、10 skipped perception
23 passed planning
1 warning：pytest 类收集提示，不影响通过结果。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4069080"/>
            <a:ext cx="448056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76872" y="4187952"/>
            <a:ext cx="415137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0D9488"/>
                </a:solidFill>
                <a:latin typeface="Microsoft YaHei"/>
              </a:rPr>
              <a:t>2h headless soak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76872" y="4544568"/>
            <a:ext cx="4151376" cy="5577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Microsoft YaHei"/>
              </a:rPr>
              <a:t>PASS · 7256s
8 个节点持续在线；RSS 约 36,720 KB，日志无 traceback。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Microsoft YaHei"/>
              </a:rPr>
              <a:t>证据目录：outputs/ros_full_demo/ · VM 验证副本：~/codex-swarm-validation-v2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50292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D9488"/>
                </a:solidFill>
                <a:latin typeface="Microsoft YaHei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92608"/>
            <a:ext cx="1037844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13263F"/>
                </a:solidFill>
                <a:latin typeface="Microsoft YaHei"/>
              </a:rPr>
              <a:t>交付结论与下一步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1288" y="804672"/>
            <a:ext cx="1024128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何泓林工作流的完成边界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429000" cy="3291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444752"/>
            <a:ext cx="309981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0D9488"/>
                </a:solidFill>
                <a:latin typeface="Microsoft YaHei"/>
              </a:rPr>
              <a:t>已交付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01368"/>
            <a:ext cx="3099816" cy="2706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</a:rPr>
              <a:t>CI 感知修复
传感器 QoS 修复
DroneStateArray 时间戳接口
单机 PX4 SITL 链路
挂机与视频证据工具
接口、报告与素材归档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325880"/>
            <a:ext cx="3429000" cy="3291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5424" y="1444752"/>
            <a:ext cx="309981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Microsoft YaHei"/>
              </a:rPr>
              <a:t>已验证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5424" y="1801368"/>
            <a:ext cx="3099816" cy="2706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</a:rPr>
              <a:t>ROS2 overlay clean build
DroneStateArray.header import
Perception/Fusion 28 passed
Planning 23 passed
PX4 SITL smoke
8 节点 2h soak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55864" y="1325880"/>
            <a:ext cx="3429000" cy="3291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0456" y="1444752"/>
            <a:ext cx="309981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Microsoft YaHei"/>
              </a:rPr>
              <a:t>仍待完成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0456" y="1801368"/>
            <a:ext cx="3099816" cy="2706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</a:rPr>
              <a:t>Gazebo 桌面全系统录屏
三场景视频精剪与指标
真实设备与 Offboard 飞行
不把 headless 测试写成飞行结果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166360"/>
            <a:ext cx="1024128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13263F"/>
                </a:solidFill>
                <a:latin typeface="Microsoft YaHei"/>
              </a:rPr>
              <a:t>提交原则：只提交有原始日志、topic snapshot 或测试报告支撑的工程结论；视频与真机边界单独标注。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Microsoft YaHei"/>
              </a:rPr>
              <a:t>目标远端：zxcvn-syc/Swarm-Control-System · 分支：codex/hehonglin-cvtrack-fixes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CVTrack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异构无人集群协同封控系统：端到端实测汇报</dc:title>
  <dc:subject>ROS2 heterogeneous drone swarm containment demonstration</dc:subject>
  <dc:creator>He Honglin</dc:creator>
  <cp:lastModifiedBy>He Honglin</cp:lastModifiedBy>
  <cp:revision>1</cp:revision>
  <dcterms:created xsi:type="dcterms:W3CDTF">2026-08-17T14:25:28Z</dcterms:created>
  <dcterms:modified xsi:type="dcterms:W3CDTF">2026-08-17T14:25:28Z</dcterms:modified>
</cp:coreProperties>
</file>